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CE353-A9F7-4C9A-A668-F630BCC8E7FB}" v="426" dt="2026-07-23T14:33:08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80870-AE75-4325-80A3-5125578311FA}" type="datetimeFigureOut"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19910-674F-4085-992D-60552479BE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1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the photo placeholder with a professional portrait or a photo of you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PORTFOLIO 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Akhmad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Kholmurodov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Next.js · TypeScript · Node.js · PostgreSQL · Docker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seehyuk2000@gmail.com   ·   +82 10-3802-1005   ·   github.com/AkhmadKholmurodov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556EC7-54E7-257E-9B71-D05167F23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088" y="762227"/>
            <a:ext cx="3933825" cy="5057775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91FCDE3-D9AF-7D0B-A1E8-782EE70F6001}"/>
              </a:ext>
            </a:extLst>
          </p:cNvPr>
          <p:cNvSpPr/>
          <p:nvPr/>
        </p:nvSpPr>
        <p:spPr>
          <a:xfrm>
            <a:off x="779416" y="5624285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9FB3BA"/>
                </a:solidFill>
                <a:latin typeface="Calibri"/>
                <a:ea typeface="Calibri"/>
                <a:cs typeface="Calibri"/>
              </a:rPr>
              <a:t>Visa type: E-7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and run web products end to end.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path into development started in a university Cloud Computing Lab, where I rebuilt an autonomous-vehicle control prototype from Flutter to React + TypeScript — my first lesson in choosing the right architecture instead of the convenient one.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at SAMBU I own the company's e-commerce platform from the first component to server uptime, and I keep shipping my own products on the side. Alongside development I practise application security — OWASP Top 10, penetration testing and bug bounty — because I would rather find the hole in my own code first.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in Korean, English and Uzbek, and I like problems that sit between a clean interface and a system that has to stay up.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98080" y="1325880"/>
            <a:ext cx="4114800" cy="4206240"/>
          </a:xfrm>
          <a:prstGeom prst="roundRect">
            <a:avLst>
              <a:gd name="adj" fmla="val 2000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1819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A32"/>
                </a:solidFill>
                <a:latin typeface="Calibri"/>
                <a:ea typeface="Calibri"/>
                <a:cs typeface="Calibri"/>
              </a:rPr>
              <a:t>Daegu</a:t>
            </a:r>
            <a:r>
              <a:rPr lang="en-US" sz="1300" dirty="0">
                <a:solidFill>
                  <a:srgbClr val="1B2A32"/>
                </a:solidFill>
                <a:latin typeface="Calibri"/>
                <a:ea typeface="Calibri"/>
                <a:cs typeface="Calibri"/>
              </a:rPr>
              <a:t>, South Korea</a:t>
            </a:r>
            <a:endParaRPr lang="en-US" sz="1300">
              <a:solidFill>
                <a:srgbClr val="1B2A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0" y="22585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2478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2"/>
                </a:solidFill>
                <a:latin typeface="Calibri"/>
                <a:ea typeface="Calibri"/>
                <a:cs typeface="Calibri"/>
              </a:rPr>
              <a:t>3+ years, production web platforms</a:t>
            </a:r>
            <a:endParaRPr lang="en-US" sz="1300">
              <a:solidFill>
                <a:srgbClr val="1B2A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0" y="2916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3136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B2A32"/>
                </a:solidFill>
                <a:latin typeface="Calibri"/>
                <a:ea typeface="Calibri"/>
                <a:cs typeface="Calibri"/>
              </a:rPr>
              <a:t>Next.js · Nest · TypeScript · Node.js · </a:t>
            </a:r>
            <a:r>
              <a:rPr lang="en-US" sz="1300" dirty="0" err="1">
                <a:solidFill>
                  <a:srgbClr val="1B2A32"/>
                </a:solidFill>
                <a:latin typeface="Calibri"/>
                <a:ea typeface="Calibri"/>
                <a:cs typeface="Calibri"/>
              </a:rPr>
              <a:t>WebOps</a:t>
            </a:r>
            <a:endParaRPr lang="en-US" sz="1300">
              <a:solidFill>
                <a:srgbClr val="1B2A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0" y="35753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2"/>
                </a:solidFill>
                <a:latin typeface="Calibri"/>
                <a:ea typeface="Calibri"/>
                <a:cs typeface="Calibri"/>
              </a:rPr>
              <a:t>Application security &amp; bug bounty</a:t>
            </a:r>
            <a:endParaRPr lang="en-US" sz="1300">
              <a:solidFill>
                <a:srgbClr val="1B2A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0" y="42336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453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2"/>
                </a:solidFill>
                <a:latin typeface="Calibri"/>
                <a:ea typeface="Calibri"/>
                <a:cs typeface="Calibri"/>
              </a:rPr>
              <a:t>Korean, English, Uzbek</a:t>
            </a:r>
            <a:endParaRPr lang="en-US" sz="1300">
              <a:solidFill>
                <a:srgbClr val="1B2A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5111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</a:rPr>
              <a:t>Daegu University: Software Engineering</a:t>
            </a:r>
          </a:p>
        </p:txBody>
      </p:sp>
      <p:sp>
        <p:nvSpPr>
          <p:cNvPr id="18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276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Next.js 14/15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Tailwind CSS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ShadcnUI, MUI, Zustand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6276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20848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Prisma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GraphQL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(Auth), Stripe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28432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4464" y="16276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50224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20848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/>
                <a:ea typeface="Calibri"/>
                <a:cs typeface="Calibri"/>
              </a:rPr>
              <a:t>PostgreSQL (</a:t>
            </a:r>
            <a:r>
              <a:rPr lang="en-US" sz="1250" dirty="0" err="1">
                <a:solidFill>
                  <a:srgbClr val="5A6B72"/>
                </a:solidFill>
                <a:latin typeface="Calibri"/>
                <a:ea typeface="Calibri"/>
                <a:cs typeface="Calibri"/>
              </a:rPr>
              <a:t>Neon,Supabase</a:t>
            </a:r>
            <a:r>
              <a:rPr lang="en-US" sz="1250" dirty="0">
                <a:solidFill>
                  <a:srgbClr val="5A6B72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MariaDB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query design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70332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95935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904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4165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 (k8s/k3s)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GitLab CI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Linux (Ubuntu)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370332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395935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3904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53712" y="44165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WLAN security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28432" y="370332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84464" y="395935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650224" y="3904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 of working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84464" y="44165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&amp; code review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hand-off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TRACK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82296" cy="2103120"/>
          </a:xfrm>
          <a:prstGeom prst="roundRect">
            <a:avLst>
              <a:gd name="adj" fmla="val 44444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72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SAMBU Co., Ltd.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&amp; WebOps Engineer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95360" y="1591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 – Present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built and operate lowshop.net — the company's official e-commerce platform — owning everything from frontend implementation to server operations.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and manage the storefront across Coupang, Naver SmartStore and Toss, including profile setup and sales system administration.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uptime and stability monitoring; optimised payment and data-synchronisation workflows.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703320"/>
            <a:ext cx="82296" cy="2103120"/>
          </a:xfrm>
          <a:prstGeom prst="roundRect">
            <a:avLst>
              <a:gd name="adj" fmla="val 44444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04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Lab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Full-Stack Developer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95360" y="3922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2022 – Sep 2024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6177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web/app prototype for remote control and telemetry of autonomous vehicles.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and led the migration from a Flutter codebase to ReactJS + TypeScript, fixing the mobile rendering and compatibility issues that blocked delivery.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the migration ahead of deadline with the Node.js backend developer; owned responsive UI and REST data sync.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PROJECT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eYaqin — Local C2C Marketplace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https://eyaqin.vercel.app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59671" y="1508760"/>
            <a:ext cx="5178697" cy="1570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eYaqin is a neighbourhood-first second-hand marketplace. Instead of a nationwide feed, it ranks and filters listings by how close they actually are to you — by district and by radius — so a trade stays a short walk away.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8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solo, full-stack build: schema design, API surface, real-time chat, moderation tooling and deployment.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913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build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50008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50008" y="3913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lifecycle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33088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33088" y="3913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buyer–seller chat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4709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19 · TypeScript · Prisma · PostgreSQL (Neon) · Zustand · Tailwind · Vercel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316CA0-9CED-DCEA-44B8-56DD45760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229" y="1582057"/>
            <a:ext cx="5932116" cy="36938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PROJECT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eYaqin — Main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41732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Location-aware 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733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and radius based search and filtering.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48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lifecycle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505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states from active through to sold.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" y="297180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926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27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Buyer–seller messaging with read status.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" y="374904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703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0050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moderation workflow.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" y="452628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480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7823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saved items, nearby discovery feed.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" y="530352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5303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5257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accounts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55595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 and profile management.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2B6CE87-40AA-AB41-6B57-CDCCD75A9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258" y="1570255"/>
            <a:ext cx="6604000" cy="3608635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45A9FA4-CCE8-CF83-0847-6BAC54253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256" y="1530880"/>
            <a:ext cx="6654802" cy="370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PROJECT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Lifecycle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moves through explicit states, so both sides always know where a trade stands — and moderation has a single place to intervene.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" y="278892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and visible in local search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2724912"/>
            <a:ext cx="146304" cy="219456"/>
          </a:xfrm>
          <a:prstGeom prst="rightArrow">
            <a:avLst/>
          </a:prstGeom>
          <a:solidFill>
            <a:srgbClr val="AEBEC4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214884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44368" y="278892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agreed, item held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9472" y="2724912"/>
            <a:ext cx="146304" cy="219456"/>
          </a:xfrm>
          <a:prstGeom prst="rightArrow">
            <a:avLst/>
          </a:prstGeom>
          <a:solidFill>
            <a:srgbClr val="AEBE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02352" y="214884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193792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escrow_verification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78892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held and checked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87184" y="2724912"/>
            <a:ext cx="146304" cy="219456"/>
          </a:xfrm>
          <a:prstGeom prst="rightArrow">
            <a:avLst/>
          </a:prstGeom>
          <a:solidFill>
            <a:srgbClr val="AEBE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0064" y="214884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461504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79792" y="278892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complete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54896" y="2724912"/>
            <a:ext cx="146304" cy="219456"/>
          </a:xfrm>
          <a:prstGeom prst="rightArrow">
            <a:avLst/>
          </a:prstGeom>
          <a:solidFill>
            <a:srgbClr val="AEBE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637776" y="214884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5A6B72"/>
          </a:solidFill>
          <a:ln/>
        </p:spPr>
      </p:sp>
      <p:sp>
        <p:nvSpPr>
          <p:cNvPr id="22" name="Text 20"/>
          <p:cNvSpPr/>
          <p:nvPr/>
        </p:nvSpPr>
        <p:spPr>
          <a:xfrm>
            <a:off x="9729216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47504" y="278892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 or moderated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9776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states, not booleans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4526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"is_sold" cannot express a held item, a disputed payment or a removed listing.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are validated server-side, so the UI can never invent an impossible state.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E60AC7B-7376-9A5F-CDA3-7B40FC3EB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057" y="3703485"/>
            <a:ext cx="5457372" cy="2919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PROJECT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Delivery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910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536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with React 19 and TypeScript. Zustand for client state, Tailwind for styling, server components for listing pages.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8529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723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198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over Prisma against PostgreSQL (Neon). API grouped by concern: auth, listings, engagement, nearby discovery.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33425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5537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98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9011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with preview builds per branch; environment-separated database branches for safe schema migration.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434840"/>
            <a:ext cx="5303520" cy="1508760"/>
          </a:xfrm>
          <a:prstGeom prst="roundRect">
            <a:avLst>
              <a:gd name="adj" fmla="val 5455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do next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91947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image storage to object storage with signed URLs.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search indexing so radius queries stay fast at scale.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369A815-87DB-A32D-E8D5-33B208F39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3" y="384628"/>
            <a:ext cx="5742850" cy="3788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PROJECT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SmartGuard (SuniyKoz)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710"/>
            <a:ext cx="5203371" cy="52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SmartGuard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is an AI surveillance platform that monitors retail CCTV in real-time to alert owners of suspicious activity via Telegram.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592943"/>
            <a:ext cx="5522685" cy="1673497"/>
          </a:xfrm>
          <a:prstGeom prst="roundRect">
            <a:avLst>
              <a:gd name="adj" fmla="val 4286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890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52897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Small retail stores lose inventory to theft and waste hours reviewing CCTV footage. </a:t>
            </a:r>
            <a:r>
              <a:rPr lang="en-US" sz="1250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SmartGuard</a:t>
            </a:r>
            <a:r>
              <a:rPr lang="en-US" sz="125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links IP cameras to Claude Vision to auto-detect suspicious activity and send instant Telegram alerts. I built a hybrid edge/cloud pipeline using local motion detectors to route only key frames to VLM, cutting API costs by over 100x.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59671" y="3565435"/>
            <a:ext cx="5515428" cy="2103845"/>
          </a:xfrm>
          <a:prstGeom prst="roundRect">
            <a:avLst>
              <a:gd name="adj" fmla="val 4186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6688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my role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034247"/>
            <a:ext cx="5271588" cy="1497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Tech Stack: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React 18, Python/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FastAPI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, PostgreSQL, OpenCV, Claude Vision, Docker.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My Role: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Engineerd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the entire platform end-to-end, including multi-threaded camera pipelines, AI routing logic, and web UI.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Status: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Live (Active in retail production).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A861DA-42B3-F0A1-580A-8E1ED9811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978" y="203199"/>
            <a:ext cx="5373472" cy="32294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635797-392E-F7B7-AA20-052423BF1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572" y="3563257"/>
            <a:ext cx="5376056" cy="31931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132477-9FCF-1ADF-2657-7308DD2D9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642" y="203199"/>
            <a:ext cx="5373915" cy="32439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6C1039-8B89-43EF-C27E-B59E2C7BB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999" y="3570513"/>
            <a:ext cx="5268686" cy="32729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PROJECT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eYaqin Mobile — React Native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C86112-01D5-C325-5622-275E077E14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5"/>
          <a:stretch>
            <a:fillRect/>
          </a:stretch>
        </p:blipFill>
        <p:spPr>
          <a:xfrm>
            <a:off x="4729389" y="1594303"/>
            <a:ext cx="2303659" cy="49929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5A5B895-096A-8D20-90AF-7343850484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5" b="140"/>
          <a:stretch>
            <a:fillRect/>
          </a:stretch>
        </p:blipFill>
        <p:spPr>
          <a:xfrm>
            <a:off x="7216322" y="1592035"/>
            <a:ext cx="2318173" cy="49879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450B14F-E74C-4ADE-7A7E-C703C38F52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5"/>
          <a:stretch>
            <a:fillRect/>
          </a:stretch>
        </p:blipFill>
        <p:spPr>
          <a:xfrm>
            <a:off x="9695995" y="1604281"/>
            <a:ext cx="2325431" cy="4985658"/>
          </a:xfrm>
          <a:prstGeom prst="rect">
            <a:avLst/>
          </a:prstGeom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8EF72739-47AC-AAE0-0810-61C38BE61EE7}"/>
              </a:ext>
            </a:extLst>
          </p:cNvPr>
          <p:cNvSpPr/>
          <p:nvPr/>
        </p:nvSpPr>
        <p:spPr>
          <a:xfrm>
            <a:off x="566928" y="1078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client for eYaqin. A second-hand trade happens on the phone and between strangers — so upload speed and trust both had to live there.</a:t>
            </a:r>
            <a:endParaRPr lang="en-US" sz="13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0F466EEB-025D-6ABF-4347-8AEFC28E3408}"/>
              </a:ext>
            </a:extLst>
          </p:cNvPr>
          <p:cNvSpPr/>
          <p:nvPr/>
        </p:nvSpPr>
        <p:spPr>
          <a:xfrm>
            <a:off x="603504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0BA36E55-7207-2454-489F-6147B3E4BBE9}"/>
              </a:ext>
            </a:extLst>
          </p:cNvPr>
          <p:cNvSpPr/>
          <p:nvPr/>
        </p:nvSpPr>
        <p:spPr>
          <a:xfrm>
            <a:off x="105156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&amp; gallery upload</a:t>
            </a:r>
            <a:endParaRPr lang="en-US" sz="135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CB2468D3-44E6-2187-254C-CA0209FFED96}"/>
              </a:ext>
            </a:extLst>
          </p:cNvPr>
          <p:cNvSpPr/>
          <p:nvPr/>
        </p:nvSpPr>
        <p:spPr>
          <a:xfrm>
            <a:off x="1051560" y="18653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 item straight from the camera or the photo library.</a:t>
            </a:r>
            <a:endParaRPr lang="en-US" sz="115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0FB7F160-EFFE-66BE-48CB-7194E45B7642}"/>
              </a:ext>
            </a:extLst>
          </p:cNvPr>
          <p:cNvSpPr/>
          <p:nvPr/>
        </p:nvSpPr>
        <p:spPr>
          <a:xfrm>
            <a:off x="603504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31150AA0-588A-AF06-EE98-65600B13A9EF}"/>
              </a:ext>
            </a:extLst>
          </p:cNvPr>
          <p:cNvSpPr/>
          <p:nvPr/>
        </p:nvSpPr>
        <p:spPr>
          <a:xfrm>
            <a:off x="1051560" y="2221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sharing</a:t>
            </a:r>
            <a:endParaRPr lang="en-US" sz="13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C8098E93-4D7B-C112-6586-13FD2831BAC0}"/>
              </a:ext>
            </a:extLst>
          </p:cNvPr>
          <p:cNvSpPr/>
          <p:nvPr/>
        </p:nvSpPr>
        <p:spPr>
          <a:xfrm>
            <a:off x="1051560" y="24871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any listing to people outside the app.</a:t>
            </a:r>
            <a:endParaRPr lang="en-US" sz="115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69E6C453-66E4-47B8-5738-834AE429B822}"/>
              </a:ext>
            </a:extLst>
          </p:cNvPr>
          <p:cNvSpPr/>
          <p:nvPr/>
        </p:nvSpPr>
        <p:spPr>
          <a:xfrm>
            <a:off x="603504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BEE3F353-ABE2-E96D-D306-B6507FF8AF61}"/>
              </a:ext>
            </a:extLst>
          </p:cNvPr>
          <p:cNvSpPr/>
          <p:nvPr/>
        </p:nvSpPr>
        <p:spPr>
          <a:xfrm>
            <a:off x="1051560" y="2843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</a:t>
            </a:r>
            <a:endParaRPr lang="en-US" sz="135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AF986206-27C7-1F1C-BD57-1468880B7CE5}"/>
              </a:ext>
            </a:extLst>
          </p:cNvPr>
          <p:cNvSpPr/>
          <p:nvPr/>
        </p:nvSpPr>
        <p:spPr>
          <a:xfrm>
            <a:off x="1051560" y="3108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Buyer–seller messaging while the trade is being agreed.</a:t>
            </a:r>
            <a:endParaRPr lang="en-US" sz="115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2D9BA03B-706C-C9B2-A7BE-407039715510}"/>
              </a:ext>
            </a:extLst>
          </p:cNvPr>
          <p:cNvSpPr/>
          <p:nvPr/>
        </p:nvSpPr>
        <p:spPr>
          <a:xfrm>
            <a:off x="603504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E52F3A9A-E5D9-0D8B-E1D6-1D9404BA4DF1}"/>
              </a:ext>
            </a:extLst>
          </p:cNvPr>
          <p:cNvSpPr/>
          <p:nvPr/>
        </p:nvSpPr>
        <p:spPr>
          <a:xfrm>
            <a:off x="1051560" y="34655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Neighbourhood community</a:t>
            </a:r>
            <a:endParaRPr lang="en-US" sz="135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051B1EBA-6BE0-F31B-B612-12976C3BF832}"/>
              </a:ext>
            </a:extLst>
          </p:cNvPr>
          <p:cNvSpPr/>
          <p:nvPr/>
        </p:nvSpPr>
        <p:spPr>
          <a:xfrm>
            <a:off x="1051560" y="3730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post local requests and find work nearby.</a:t>
            </a:r>
            <a:endParaRPr lang="en-US" sz="115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41E15CEA-86E3-6FA3-9136-1592B49677A0}"/>
              </a:ext>
            </a:extLst>
          </p:cNvPr>
          <p:cNvSpPr/>
          <p:nvPr/>
        </p:nvSpPr>
        <p:spPr>
          <a:xfrm>
            <a:off x="60350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E99B65F9-FE69-425A-C8F0-3AD5D08689A7}"/>
              </a:ext>
            </a:extLst>
          </p:cNvPr>
          <p:cNvSpPr/>
          <p:nvPr/>
        </p:nvSpPr>
        <p:spPr>
          <a:xfrm>
            <a:off x="1051560" y="40873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Manner temperature</a:t>
            </a:r>
            <a:endParaRPr lang="en-US" sz="135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587D2135-FB31-78FD-14A7-5CC6C6C4B940}"/>
              </a:ext>
            </a:extLst>
          </p:cNvPr>
          <p:cNvSpPr/>
          <p:nvPr/>
        </p:nvSpPr>
        <p:spPr>
          <a:xfrm>
            <a:off x="1051560" y="43525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reputation score that makes a trading history visible.</a:t>
            </a:r>
            <a:endParaRPr lang="en-US" sz="1150" dirty="0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05761EDB-EC33-08A9-4221-F34F3336730B}"/>
              </a:ext>
            </a:extLst>
          </p:cNvPr>
          <p:cNvSpPr/>
          <p:nvPr/>
        </p:nvSpPr>
        <p:spPr>
          <a:xfrm>
            <a:off x="603504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67E66AB8-9D56-584F-E356-ED8EDB023E3C}"/>
              </a:ext>
            </a:extLst>
          </p:cNvPr>
          <p:cNvSpPr/>
          <p:nvPr/>
        </p:nvSpPr>
        <p:spPr>
          <a:xfrm>
            <a:off x="1051560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Review-gated completion</a:t>
            </a:r>
            <a:endParaRPr lang="en-US" sz="1350" dirty="0"/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A41B3736-184A-B5B2-3099-0336BDFEE21B}"/>
              </a:ext>
            </a:extLst>
          </p:cNvPr>
          <p:cNvSpPr/>
          <p:nvPr/>
        </p:nvSpPr>
        <p:spPr>
          <a:xfrm>
            <a:off x="1051560" y="49743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is only confirmed once a review has been written.</a:t>
            </a:r>
            <a:endParaRPr lang="en-US" sz="1150" dirty="0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0B931E06-A395-0A7F-0389-FF57511C0D07}"/>
              </a:ext>
            </a:extLst>
          </p:cNvPr>
          <p:cNvSpPr/>
          <p:nvPr/>
        </p:nvSpPr>
        <p:spPr>
          <a:xfrm>
            <a:off x="603504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A5E040F4-11B0-14B3-D077-66361B0A85F2}"/>
              </a:ext>
            </a:extLst>
          </p:cNvPr>
          <p:cNvSpPr/>
          <p:nvPr/>
        </p:nvSpPr>
        <p:spPr>
          <a:xfrm>
            <a:off x="1051560" y="53309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feedback channel</a:t>
            </a:r>
            <a:endParaRPr lang="en-US" sz="1350" dirty="0"/>
          </a:p>
        </p:txBody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EF012028-180D-3765-73EB-EC6E01807F29}"/>
              </a:ext>
            </a:extLst>
          </p:cNvPr>
          <p:cNvSpPr/>
          <p:nvPr/>
        </p:nvSpPr>
        <p:spPr>
          <a:xfrm>
            <a:off x="1051560" y="55961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feature requests — direct product research.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07  ·  BEYOND THE STACK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Practice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develop with an attacker's checklist in mind — the same OWASP categories I practise against on training platforms are the ones I review my own code for.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40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HackerOne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017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 valid vulnerability report on a live production application. Technically validated and triaged by the vendor's security team — closed as duplicate, validity officially confirmed.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40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HTB &amp; TryHackMe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practice in web application vulnerability analysis, infrastructure penetration testing and OWASP Top 10 exercises.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28432" y="201168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2240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02752" y="3017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Wireless LAN 7.6 Administrator — Fortinet Training Institute &amp; ISC2 (2026), CISSP domain: Communication and Network Security.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8920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1F5F6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certified:  Front End Development Libraries — freeCodeCamp (2025)          Languages:  Korean (advanced) · English (advanced) · Uzbek (native)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68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be glad to talk about how I can contribute to your team.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5176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seehyuk2000@gmail.com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 10-3802-1005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github.com/AkhmadKholmurodov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5166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linkedin.com/in/akhmadkholmurodov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5715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eyaqin-app.vercel.app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855005-07D1-5A68-5E52-541368BD7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7289" b="-5571"/>
          <a:stretch>
            <a:fillRect/>
          </a:stretch>
        </p:blipFill>
        <p:spPr>
          <a:xfrm>
            <a:off x="6574972" y="1311728"/>
            <a:ext cx="5617487" cy="4233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Akhmad Kholmurodov — Full-Stack Developer Portfolio</dc:title>
  <dc:subject>PptxGenJS Presentation</dc:subject>
  <dc:creator>Akhmad Kholmurodov</dc:creator>
  <cp:lastModifiedBy>Akhmad Kholmurodov</cp:lastModifiedBy>
  <cp:revision>238</cp:revision>
  <dcterms:created xsi:type="dcterms:W3CDTF">2026-07-23T11:43:48Z</dcterms:created>
  <dcterms:modified xsi:type="dcterms:W3CDTF">2026-07-23T14:34:06Z</dcterms:modified>
</cp:coreProperties>
</file>